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iriş" id="{9A0C0000-0000-4000-8000-000000000000}">
          <p14:sldIdLst>
            <p14:sldId id="256"/>
            <p14:sldId id="257"/>
          </p14:sldIdLst>
        </p14:section>
        <p14:section name="Analiz" id="{9A0C0001-0000-4000-8000-000000000001}">
          <p14:sldIdLst>
            <p14:sldId id="258"/>
            <p14:sldId id="259"/>
            <p14:sldId id="260"/>
          </p14:sldIdLst>
        </p14:section>
        <p14:section name="Sonuç" id="{9A0C0002-0000-4000-8000-000000000002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Gelir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12.0</c:v>
                </c:pt>
                <c:pt idx="1">
                  <c:v>15.5</c:v>
                </c:pt>
                <c:pt idx="2">
                  <c:v>19.2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xmlns:r="http://schemas.openxmlformats.org/officeDocument/2006/relationships" uniqueId="urn:microsoft.com/office/officeart/2005/8/colors/accent1_2">
  <dgm:title val=""/>
  <dgm:desc val=""/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0}" type="doc">
      <dgm:prSet/>
      <dgm:spPr/>
      <dgm:t>
        <a:bodyPr/>
        <a:lstStyle/>
        <a:p>
          <a:endParaRPr lang="tr-TR"/>
        </a:p>
      </dgm:t>
    </dgm:pt>
    <dgm:pt modelId="{1}">
      <dgm:prSet/>
      <dgm:spPr/>
      <dgm:t>
        <a:bodyPr/>
        <a:lstStyle/>
        <a:p>
          <a:r>
            <a:rPr lang="tr-TR"/>
            <a:t>Planla</a:t>
          </a:r>
        </a:p>
      </dgm:t>
    </dgm:pt>
    <dgm:pt modelId="{2}">
      <dgm:prSet/>
      <dgm:spPr/>
      <dgm:t>
        <a:bodyPr/>
        <a:lstStyle/>
        <a:p>
          <a:r>
            <a:rPr lang="tr-TR"/>
            <a:t>Uygula</a:t>
          </a:r>
        </a:p>
      </dgm:t>
    </dgm:pt>
    <dgm:pt modelId="{3}">
      <dgm:prSet/>
      <dgm:spPr/>
      <dgm:t>
        <a:bodyPr/>
        <a:lstStyle/>
        <a:p>
          <a:r>
            <a:rPr lang="tr-TR"/>
            <a:t>Ölç</a:t>
          </a:r>
        </a:p>
      </dgm:t>
    </dgm:pt>
  </dgm:ptLst>
  <dgm:cxnLst>
    <dgm:cxn modelId="{c1}" srcId="{0}" destId="{1}" srcOrd="0" destOrd="0"/>
    <dgm:cxn modelId="{c2}" srcId="{0}" destId="{2}" srcOrd="1" destOrd="0"/>
    <dgm:cxn modelId="{c3}" srcId="{0}" destId="{3}" srcOrd="2" destOrd="0"/>
  </dgm:cxnLst>
  <dgm:bg/>
  <dgm:whole/>
</dgm:dataModel>
</file>

<file path=ppt/diagrams/drawing1.xml><?xml version="1.0" encoding="utf-8"?>
<dsp:drawing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process1">
  <dgm:title val=""/>
  <dgm:desc val=""/>
  <dgm:layoutNode name="Name0"/>
</dgm:layoutDef>
</file>

<file path=ppt/diagrams/quickStyle1.xml><?xml version="1.0" encoding="utf-8"?>
<dgm:styleDef xmlns:dgm="http://schemas.openxmlformats.org/drawingml/2006/diagram" xmlns:a="http://schemas.openxmlformats.org/drawingml/2006/main" xmlns:r="http://schemas.openxmlformats.org/officeDocument/2006/relationships" uniqueId="urn:microsoft.com/office/officeart/2005/8/quickstyle/simple1">
  <dgm:title val=""/>
  <dgm:desc val=""/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slaytta pazarın genel görünümünü anlat.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Gelir üç yılda istikrarlı arttı.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li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0" name="Kurum Logosu" descr="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00000" y="150000"/>
            <a:ext cx="800000" cy="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Kurumsal Strateji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Yönetim Kurulu Sunumu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Pazar Görünümü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sz="2000">
                <a:solidFill>
                  <a:srgbClr val="1F4E79"/>
                </a:solidFill>
              </a:rPr>
              <a:t>Talep 2025'te güçlü büyüdü</a:t>
            </a:r>
          </a:p>
          <a:p>
            <a:pPr lvl="1"/>
            <a:r>
              <a:rPr sz="1600"/>
              <a:t>Kuzey bölgesi geride kaldı</a:t>
            </a:r>
          </a:p>
          <a:p>
            <a:r>
              <a:t>Yeni ürünler </a:t>
            </a:r>
            <a:r>
              <a:rPr i="1"/>
              <a:t>payı artırıyor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6100000"/>
            <a:ext cx="4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/>
              <a:t>Kaynak: İç analiz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00000" y="1800000"/>
            <a:ext cx="2500000" cy="1200000"/>
          </a:xfrm>
          <a:prstGeom prst="roundRect">
            <a:avLst/>
          </a:prstGeom>
          <a:solidFill>
            <a:srgbClr val="E07A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Önemli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000000" y="3300000"/>
            <a:ext cx="1400000" cy="600000"/>
            <a:chOff x="6000000" y="3300000"/>
            <a:chExt cx="1400000" cy="600000"/>
          </a:xfrm>
        </p:grpSpPr>
        <p:sp>
          <p:nvSpPr>
            <p:cNvPr id="7" name="Oval 6"/>
            <p:cNvSpPr/>
            <p:nvPr/>
          </p:nvSpPr>
          <p:spPr>
            <a:xfrm>
              <a:off x="6000000" y="3300000"/>
              <a:ext cx="600000" cy="60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6800000" y="3300000"/>
              <a:ext cx="600000" cy="60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B</a:t>
              </a:r>
            </a:p>
          </p:txBody>
        </p:sp>
      </p:grp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000" y="4200000"/>
            <a:ext cx="900000" cy="900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Gelir Grafiği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00000" y="1600000"/>
          <a:ext cx="7000000" cy="45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Süreç</a:t>
            </a:r>
          </a:p>
        </p:txBody>
      </p:sp>
      <p:graphicFrame xmlns:dgm="http://schemas.openxmlformats.org/drawingml/2006/diagram">
        <p:nvGraphicFramePr>
          <p:cNvPr id="4" name="Diyagram 3"/>
          <p:cNvGraphicFramePr/>
          <p:nvPr/>
        </p:nvGraphicFramePr>
        <p:xfrm>
          <a:off x="900000" y="1600000"/>
          <a:ext cx="7000000" cy="4000000"/>
        </p:xfrm>
        <a:graphic>
          <a:graphicData uri="http://schemas.openxmlformats.org/drawingml/2006/diagram">
            <dgm:relIds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Ek: Ayrıntılı Tablo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00000" y="1600000"/>
          <a:ext cx="700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333"/>
                <a:gridCol w="2333333"/>
                <a:gridCol w="2333334"/>
              </a:tblGrid>
              <a:tr h="500000">
                <a:tc>
                  <a:txBody>
                    <a:bodyPr/>
                    <a:lstStyle/>
                    <a:p>
                      <a:r>
                        <a:t>Bölge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t>Marmara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9,4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t>Ege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Sonuç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Büyüme sürüyor</a:t>
            </a:r>
          </a:p>
          <a:p>
            <a:r>
              <a:rPr>
                <a:hlinkClick r:id="rId2" action="ppaction://hlinksldjump"/>
              </a:rPr>
              <a:t>Ayrıntı için pazar görünümüne dönün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